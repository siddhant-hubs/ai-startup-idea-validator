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B36BE"/>
                </a:solidFill>
              </a:defRPr>
            </a:pPr>
            <a:r>
              <a:t>AI Startup Idea Validator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97280" cy="73152"/>
          </a:xfrm>
          <a:prstGeom prst="rect">
            <a:avLst/>
          </a:prstGeom>
          <a:solidFill>
            <a:srgbClr val="5B3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/>
            </a:pPr>
            <a:r>
              <a:t>Milestone 4 — Final Demonstration</a:t>
            </a:r>
          </a:p>
          <a:p>
            <a:pPr>
              <a:spcAft>
                <a:spcPts val="1500"/>
              </a:spcAft>
              <a:defRPr sz="2200"/>
            </a:pPr>
            <a:r>
              <a:t>Market → SWOT/Risk → MVP → GTM → Advisor → PDF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B36BE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97280" cy="73152"/>
          </a:xfrm>
          <a:prstGeom prst="rect">
            <a:avLst/>
          </a:prstGeom>
          <a:solidFill>
            <a:srgbClr val="5B3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Founders need fast evidence before building.</a:t>
            </a:r>
          </a:p>
          <a:p>
            <a:pPr>
              <a:spcAft>
                <a:spcPts val="1500"/>
              </a:spcAft>
              <a:defRPr sz="2000"/>
            </a:pPr>
            <a:r>
              <a:t>Manual market, competitor, product and launch analysis is fragmented.</a:t>
            </a:r>
          </a:p>
          <a:p>
            <a:pPr>
              <a:spcAft>
                <a:spcPts val="1500"/>
              </a:spcAft>
              <a:defRPr sz="2000"/>
            </a:pPr>
            <a:r>
              <a:t>The system connects these decisions in one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B36BE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97280" cy="73152"/>
          </a:xfrm>
          <a:prstGeom prst="rect">
            <a:avLst/>
          </a:prstGeom>
          <a:solidFill>
            <a:srgbClr val="5B3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FastAPI frontend/API</a:t>
            </a:r>
          </a:p>
          <a:p>
            <a:pPr>
              <a:spcAft>
                <a:spcPts val="1500"/>
              </a:spcAft>
              <a:defRPr sz="2000"/>
            </a:pPr>
            <a:r>
              <a:t>CrewAI market research with Tavily + competitor retrieval</a:t>
            </a:r>
          </a:p>
          <a:p>
            <a:pPr>
              <a:spcAft>
                <a:spcPts val="1500"/>
              </a:spcAft>
              <a:defRPr sz="2000"/>
            </a:pPr>
            <a:r>
              <a:t>SWOT/Risk → MVP/MoSCoW → GTM</a:t>
            </a:r>
          </a:p>
          <a:p>
            <a:pPr>
              <a:spcAft>
                <a:spcPts val="1500"/>
              </a:spcAft>
              <a:defRPr sz="2000"/>
            </a:pPr>
            <a:r>
              <a:t>Knowledge Base → Conversational Advisor</a:t>
            </a:r>
          </a:p>
          <a:p>
            <a:pPr>
              <a:spcAft>
                <a:spcPts val="1500"/>
              </a:spcAft>
              <a:defRPr sz="2000"/>
            </a:pPr>
            <a:r>
              <a:t>Report Generation → downloadable PDF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B36BE"/>
                </a:solidFill>
              </a:defRPr>
            </a:pPr>
            <a:r>
              <a:t>Market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97280" cy="73152"/>
          </a:xfrm>
          <a:prstGeom prst="rect">
            <a:avLst/>
          </a:prstGeom>
          <a:solidFill>
            <a:srgbClr val="5B3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Live web research</a:t>
            </a:r>
          </a:p>
          <a:p>
            <a:pPr>
              <a:spcAft>
                <a:spcPts val="1500"/>
              </a:spcAft>
              <a:defRPr sz="2000"/>
            </a:pPr>
            <a:r>
              <a:t>Market size and growth evidence</a:t>
            </a:r>
          </a:p>
          <a:p>
            <a:pPr>
              <a:spcAft>
                <a:spcPts val="1500"/>
              </a:spcAft>
              <a:defRPr sz="2000"/>
            </a:pPr>
            <a:r>
              <a:t>Real competitor discovery</a:t>
            </a:r>
          </a:p>
          <a:p>
            <a:pPr>
              <a:spcAft>
                <a:spcPts val="1500"/>
              </a:spcAft>
              <a:defRPr sz="2000"/>
            </a:pPr>
            <a:r>
              <a:t>Confidence score and verified source URLs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B36BE"/>
                </a:solidFill>
              </a:defRPr>
            </a:pPr>
            <a:r>
              <a:t>SWOT &amp; Risk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97280" cy="73152"/>
          </a:xfrm>
          <a:prstGeom prst="rect">
            <a:avLst/>
          </a:prstGeom>
          <a:solidFill>
            <a:srgbClr val="5B3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Strengths / Weaknesses / Opportunities / Threats</a:t>
            </a:r>
          </a:p>
          <a:p>
            <a:pPr>
              <a:spcAft>
                <a:spcPts val="1500"/>
              </a:spcAft>
              <a:defRPr sz="2000"/>
            </a:pPr>
            <a:r>
              <a:t>High, medium and low risks</a:t>
            </a:r>
          </a:p>
          <a:p>
            <a:pPr>
              <a:spcAft>
                <a:spcPts val="1500"/>
              </a:spcAft>
              <a:defRPr sz="2000"/>
            </a:pPr>
            <a:r>
              <a:t>Competitor risk and market-demand prediction</a:t>
            </a:r>
          </a:p>
          <a:p>
            <a:pPr>
              <a:spcAft>
                <a:spcPts val="1500"/>
              </a:spcAft>
              <a:defRPr sz="2000"/>
            </a:pPr>
            <a:r>
              <a:t>Mitigation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B36BE"/>
                </a:solidFill>
              </a:defRPr>
            </a:pPr>
            <a:r>
              <a:t>MVP 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97280" cy="73152"/>
          </a:xfrm>
          <a:prstGeom prst="rect">
            <a:avLst/>
          </a:prstGeom>
          <a:solidFill>
            <a:srgbClr val="5B3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MoSCoW prioritization</a:t>
            </a:r>
          </a:p>
          <a:p>
            <a:pPr>
              <a:spcAft>
                <a:spcPts val="1500"/>
              </a:spcAft>
              <a:defRPr sz="2000"/>
            </a:pPr>
            <a:r>
              <a:t>Must Have / Should Have / Could Have / Won't Have</a:t>
            </a:r>
          </a:p>
          <a:p>
            <a:pPr>
              <a:spcAft>
                <a:spcPts val="1500"/>
              </a:spcAft>
              <a:defRPr sz="2000"/>
            </a:pPr>
            <a:r>
              <a:t>Effort and impact</a:t>
            </a:r>
          </a:p>
          <a:p>
            <a:pPr>
              <a:spcAft>
                <a:spcPts val="1500"/>
              </a:spcAft>
              <a:defRPr sz="2000"/>
            </a:pPr>
            <a:r>
              <a:t>Tech stack, timeline, resources and success metrics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B36BE"/>
                </a:solidFill>
              </a:defRPr>
            </a:pPr>
            <a:r>
              <a:t>Go-To-Market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97280" cy="73152"/>
          </a:xfrm>
          <a:prstGeom prst="rect">
            <a:avLst/>
          </a:prstGeom>
          <a:solidFill>
            <a:srgbClr val="5B3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Positioning and value proposition</a:t>
            </a:r>
          </a:p>
          <a:p>
            <a:pPr>
              <a:spcAft>
                <a:spcPts val="1500"/>
              </a:spcAft>
              <a:defRPr sz="2000"/>
            </a:pPr>
            <a:r>
              <a:t>Primary and secondary channels</a:t>
            </a:r>
          </a:p>
          <a:p>
            <a:pPr>
              <a:spcAft>
                <a:spcPts val="1500"/>
              </a:spcAft>
              <a:defRPr sz="2000"/>
            </a:pPr>
            <a:r>
              <a:t>First 100 and first 1000 customers</a:t>
            </a:r>
          </a:p>
          <a:p>
            <a:pPr>
              <a:spcAft>
                <a:spcPts val="1500"/>
              </a:spcAft>
              <a:defRPr sz="2000"/>
            </a:pPr>
            <a:r>
              <a:t>Pricing, launch plan, partnerships and growth metrics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B36BE"/>
                </a:solidFill>
              </a:defRPr>
            </a:pPr>
            <a:r>
              <a:t>Conversational Advisor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97280" cy="73152"/>
          </a:xfrm>
          <a:prstGeom prst="rect">
            <a:avLst/>
          </a:prstGeom>
          <a:solidFill>
            <a:srgbClr val="5B3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Validation outputs are ingested into a session knowledge base.</a:t>
            </a:r>
          </a:p>
          <a:p>
            <a:pPr>
              <a:spcAft>
                <a:spcPts val="1500"/>
              </a:spcAft>
              <a:defRPr sz="2000"/>
            </a:pPr>
            <a:r>
              <a:t>Follow-up questions reference SWOT, MVP and GTM.</a:t>
            </a:r>
          </a:p>
          <a:p>
            <a:pPr>
              <a:spcAft>
                <a:spcPts val="1500"/>
              </a:spcAft>
              <a:defRPr sz="2000"/>
            </a:pPr>
            <a:r>
              <a:t>Conversation history is passed to the advisor.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B36BE"/>
                </a:solidFill>
              </a:defRPr>
            </a:pPr>
            <a:r>
              <a:t>Milestone 4: Report +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97280" cy="73152"/>
          </a:xfrm>
          <a:prstGeom prst="rect">
            <a:avLst/>
          </a:prstGeom>
          <a:solidFill>
            <a:srgbClr val="5B3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Structured downloadable PDF</a:t>
            </a:r>
          </a:p>
          <a:p>
            <a:pPr>
              <a:spcAft>
                <a:spcPts val="1500"/>
              </a:spcAft>
              <a:defRPr sz="2000"/>
            </a:pPr>
            <a:r>
              <a:t>Output-contract quality checks</a:t>
            </a:r>
          </a:p>
          <a:p>
            <a:pPr>
              <a:spcAft>
                <a:spcPts val="1500"/>
              </a:spcAft>
              <a:defRPr sz="2000"/>
            </a:pPr>
            <a:r>
              <a:t>Mocked end-to-end API tests</a:t>
            </a:r>
          </a:p>
          <a:p>
            <a:pPr>
              <a:spcAft>
                <a:spcPts val="1500"/>
              </a:spcAft>
              <a:defRPr sz="2000"/>
            </a:pPr>
            <a:r>
              <a:t>Search-query optimization and prompt-engineering documentation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B36BE"/>
                </a:solidFill>
              </a:defRPr>
            </a:pPr>
            <a:r>
              <a:t>Live Demo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97280" cy="73152"/>
          </a:xfrm>
          <a:prstGeom prst="rect">
            <a:avLst/>
          </a:prstGeom>
          <a:solidFill>
            <a:srgbClr val="5B3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Enter startup idea</a:t>
            </a:r>
          </a:p>
          <a:p>
            <a:pPr>
              <a:spcAft>
                <a:spcPts val="1500"/>
              </a:spcAft>
              <a:defRPr sz="2000"/>
            </a:pPr>
            <a:r>
              <a:t>Run Full Validation</a:t>
            </a:r>
          </a:p>
          <a:p>
            <a:pPr>
              <a:spcAft>
                <a:spcPts val="1500"/>
              </a:spcAft>
              <a:defRPr sz="2000"/>
            </a:pPr>
            <a:r>
              <a:t>Review five tabs</a:t>
            </a:r>
          </a:p>
          <a:p>
            <a:pPr>
              <a:spcAft>
                <a:spcPts val="1500"/>
              </a:spcAft>
              <a:defRPr sz="2000"/>
            </a:pPr>
            <a:r>
              <a:t>Download PDF</a:t>
            </a:r>
          </a:p>
          <a:p>
            <a:pPr>
              <a:spcAft>
                <a:spcPts val="1500"/>
              </a:spcAft>
              <a:defRPr sz="2000"/>
            </a:pPr>
            <a:r>
              <a:t>Ask advisor follow-up questions</a:t>
            </a:r>
          </a:p>
          <a:p>
            <a:pPr>
              <a:spcAft>
                <a:spcPts val="1500"/>
              </a:spcAft>
              <a:defRPr sz="2000"/>
            </a:pPr>
            <a:r>
              <a:t>Run python run_tests.py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B36BE"/>
                </a:solidFill>
              </a:defRPr>
            </a:pPr>
            <a:r>
              <a:t>Limitations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97280" cy="73152"/>
          </a:xfrm>
          <a:prstGeom prst="rect">
            <a:avLst/>
          </a:prstGeom>
          <a:solidFill>
            <a:srgbClr val="5B3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LLM strategy is decision support, not a guarantee.</a:t>
            </a:r>
          </a:p>
          <a:p>
            <a:pPr>
              <a:spcAft>
                <a:spcPts val="1500"/>
              </a:spcAft>
              <a:defRPr sz="2000"/>
            </a:pPr>
            <a:r>
              <a:t>Market claims should be checked against sources.</a:t>
            </a:r>
          </a:p>
          <a:p>
            <a:pPr>
              <a:spcAft>
                <a:spcPts val="1500"/>
              </a:spcAft>
              <a:defRPr sz="2000"/>
            </a:pPr>
            <a:r>
              <a:t>Current chatbot KB is session-scoped.</a:t>
            </a:r>
          </a:p>
          <a:p>
            <a:pPr>
              <a:spcAft>
                <a:spcPts val="1500"/>
              </a:spcAft>
              <a:defRPr sz="2000"/>
            </a:pPr>
            <a:r>
              <a:t>Future: persistence, authentication, source verification and production observability.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B36BE"/>
                </a:solidFill>
              </a:defRPr>
            </a:pPr>
            <a:r>
              <a:t>Thank You /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97280" cy="73152"/>
          </a:xfrm>
          <a:prstGeom prst="rect">
            <a:avLst/>
          </a:prstGeom>
          <a:solidFill>
            <a:srgbClr val="5B3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Demo repository + deployed URL are environment-specific.</a:t>
            </a:r>
          </a:p>
          <a:p>
            <a:pPr>
              <a:spcAft>
                <a:spcPts val="1500"/>
              </a:spcAft>
              <a:defRPr sz="20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